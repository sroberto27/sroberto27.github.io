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4"/>
  </p:sldMasterIdLst>
  <p:notesMasterIdLst>
    <p:notesMasterId r:id="rId6"/>
  </p:notesMasterIdLst>
  <p:handoutMasterIdLst>
    <p:handoutMasterId r:id="rId7"/>
  </p:handoutMasterIdLst>
  <p:sldIdLst>
    <p:sldId id="258" r:id="rId5"/>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5" userDrawn="1">
          <p15:clr>
            <a:srgbClr val="A4A3A4"/>
          </p15:clr>
        </p15:guide>
        <p15:guide id="2" pos="953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8AB1"/>
    <a:srgbClr val="EF7DBE"/>
    <a:srgbClr val="C41879"/>
    <a:srgbClr val="0E549B"/>
    <a:srgbClr val="1268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9941" autoAdjust="0"/>
    <p:restoredTop sz="94531"/>
  </p:normalViewPr>
  <p:slideViewPr>
    <p:cSldViewPr snapToGrid="0" showGuides="1">
      <p:cViewPr>
        <p:scale>
          <a:sx n="30" d="100"/>
          <a:sy n="30" d="100"/>
        </p:scale>
        <p:origin x="3240" y="24"/>
      </p:cViewPr>
      <p:guideLst>
        <p:guide orient="horz" pos="13485"/>
        <p:guide pos="9539"/>
      </p:guideLst>
    </p:cSldViewPr>
  </p:slideViewPr>
  <p:notesTextViewPr>
    <p:cViewPr>
      <p:scale>
        <a:sx n="3" d="2"/>
        <a:sy n="3" d="2"/>
      </p:scale>
      <p:origin x="0" y="0"/>
    </p:cViewPr>
  </p:notesTextViewPr>
  <p:sorterViewPr>
    <p:cViewPr>
      <p:scale>
        <a:sx n="186" d="100"/>
        <a:sy n="186" d="100"/>
      </p:scale>
      <p:origin x="0" y="0"/>
    </p:cViewPr>
  </p:sorterViewPr>
  <p:notesViewPr>
    <p:cSldViewPr snapToGrid="0">
      <p:cViewPr varScale="1">
        <p:scale>
          <a:sx n="122" d="100"/>
          <a:sy n="122" d="100"/>
        </p:scale>
        <p:origin x="3864"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3D882B-D38E-827E-37DA-EA396707378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a:extLst>
              <a:ext uri="{FF2B5EF4-FFF2-40B4-BE49-F238E27FC236}">
                <a16:creationId xmlns:a16="http://schemas.microsoft.com/office/drawing/2014/main" id="{7CE52167-26E0-EDC8-80CF-86EA91AC00C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6B558E-19AF-4C4F-B204-E033384A98D3}" type="datetimeFigureOut">
              <a:rPr lang="en-CN" smtClean="0"/>
              <a:t>08/24/2026</a:t>
            </a:fld>
            <a:endParaRPr lang="en-CN"/>
          </a:p>
        </p:txBody>
      </p:sp>
      <p:sp>
        <p:nvSpPr>
          <p:cNvPr id="4" name="Footer Placeholder 3">
            <a:extLst>
              <a:ext uri="{FF2B5EF4-FFF2-40B4-BE49-F238E27FC236}">
                <a16:creationId xmlns:a16="http://schemas.microsoft.com/office/drawing/2014/main" id="{97B00264-E85C-6E45-72CE-737F848191B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5" name="Slide Number Placeholder 4">
            <a:extLst>
              <a:ext uri="{FF2B5EF4-FFF2-40B4-BE49-F238E27FC236}">
                <a16:creationId xmlns:a16="http://schemas.microsoft.com/office/drawing/2014/main" id="{51D2FCBC-73DF-FC98-55FA-F02F71DE42F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7BE517-073D-134B-9DF5-F8A8E980017D}" type="slidenum">
              <a:rPr lang="en-CN" smtClean="0"/>
              <a:t>‹#›</a:t>
            </a:fld>
            <a:endParaRPr lang="en-CN"/>
          </a:p>
        </p:txBody>
      </p:sp>
    </p:spTree>
    <p:extLst>
      <p:ext uri="{BB962C8B-B14F-4D97-AF65-F5344CB8AC3E}">
        <p14:creationId xmlns:p14="http://schemas.microsoft.com/office/powerpoint/2010/main" val="33186353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B11B11-A111-A240-8F02-3EA9ECD67215}" type="datetimeFigureOut">
              <a:rPr lang="en-CN" smtClean="0"/>
              <a:t>08/24/2026</a:t>
            </a:fld>
            <a:endParaRPr lang="en-CN"/>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24D384-EE25-4640-8C09-8F38BB7C049A}" type="slidenum">
              <a:rPr lang="en-CN" smtClean="0"/>
              <a:t>‹#›</a:t>
            </a:fld>
            <a:endParaRPr lang="en-CN"/>
          </a:p>
        </p:txBody>
      </p:sp>
    </p:spTree>
    <p:extLst>
      <p:ext uri="{BB962C8B-B14F-4D97-AF65-F5344CB8AC3E}">
        <p14:creationId xmlns:p14="http://schemas.microsoft.com/office/powerpoint/2010/main" val="1232539134"/>
      </p:ext>
    </p:extLst>
  </p:cSld>
  <p:clrMap bg1="lt1" tx1="dk1" bg2="lt2" tx2="dk2" accent1="accent1" accent2="accent2" accent3="accent3" accent4="accent4" accent5="accent5" accent6="accent6" hlink="hlink" folHlink="folHlink"/>
  <p:notesStyle>
    <a:lvl1pPr marL="0" algn="l" defTabSz="3018486" rtl="0" eaLnBrk="1" latinLnBrk="0" hangingPunct="1">
      <a:defRPr sz="3960" kern="1200">
        <a:solidFill>
          <a:schemeClr val="tx1"/>
        </a:solidFill>
        <a:latin typeface="+mn-lt"/>
        <a:ea typeface="+mn-ea"/>
        <a:cs typeface="+mn-cs"/>
      </a:defRPr>
    </a:lvl1pPr>
    <a:lvl2pPr marL="1509243" algn="l" defTabSz="3018486" rtl="0" eaLnBrk="1" latinLnBrk="0" hangingPunct="1">
      <a:defRPr sz="3960" kern="1200">
        <a:solidFill>
          <a:schemeClr val="tx1"/>
        </a:solidFill>
        <a:latin typeface="+mn-lt"/>
        <a:ea typeface="+mn-ea"/>
        <a:cs typeface="+mn-cs"/>
      </a:defRPr>
    </a:lvl2pPr>
    <a:lvl3pPr marL="3018486" algn="l" defTabSz="3018486" rtl="0" eaLnBrk="1" latinLnBrk="0" hangingPunct="1">
      <a:defRPr sz="3960" kern="1200">
        <a:solidFill>
          <a:schemeClr val="tx1"/>
        </a:solidFill>
        <a:latin typeface="+mn-lt"/>
        <a:ea typeface="+mn-ea"/>
        <a:cs typeface="+mn-cs"/>
      </a:defRPr>
    </a:lvl3pPr>
    <a:lvl4pPr marL="4527728" algn="l" defTabSz="3018486" rtl="0" eaLnBrk="1" latinLnBrk="0" hangingPunct="1">
      <a:defRPr sz="3960" kern="1200">
        <a:solidFill>
          <a:schemeClr val="tx1"/>
        </a:solidFill>
        <a:latin typeface="+mn-lt"/>
        <a:ea typeface="+mn-ea"/>
        <a:cs typeface="+mn-cs"/>
      </a:defRPr>
    </a:lvl4pPr>
    <a:lvl5pPr marL="6036966" algn="l" defTabSz="3018486" rtl="0" eaLnBrk="1" latinLnBrk="0" hangingPunct="1">
      <a:defRPr sz="3960" kern="1200">
        <a:solidFill>
          <a:schemeClr val="tx1"/>
        </a:solidFill>
        <a:latin typeface="+mn-lt"/>
        <a:ea typeface="+mn-ea"/>
        <a:cs typeface="+mn-cs"/>
      </a:defRPr>
    </a:lvl5pPr>
    <a:lvl6pPr marL="7546208" algn="l" defTabSz="3018486" rtl="0" eaLnBrk="1" latinLnBrk="0" hangingPunct="1">
      <a:defRPr sz="3960" kern="1200">
        <a:solidFill>
          <a:schemeClr val="tx1"/>
        </a:solidFill>
        <a:latin typeface="+mn-lt"/>
        <a:ea typeface="+mn-ea"/>
        <a:cs typeface="+mn-cs"/>
      </a:defRPr>
    </a:lvl6pPr>
    <a:lvl7pPr marL="9055451" algn="l" defTabSz="3018486" rtl="0" eaLnBrk="1" latinLnBrk="0" hangingPunct="1">
      <a:defRPr sz="3960" kern="1200">
        <a:solidFill>
          <a:schemeClr val="tx1"/>
        </a:solidFill>
        <a:latin typeface="+mn-lt"/>
        <a:ea typeface="+mn-ea"/>
        <a:cs typeface="+mn-cs"/>
      </a:defRPr>
    </a:lvl7pPr>
    <a:lvl8pPr marL="10564688" algn="l" defTabSz="3018486" rtl="0" eaLnBrk="1" latinLnBrk="0" hangingPunct="1">
      <a:defRPr sz="3960" kern="1200">
        <a:solidFill>
          <a:schemeClr val="tx1"/>
        </a:solidFill>
        <a:latin typeface="+mn-lt"/>
        <a:ea typeface="+mn-ea"/>
        <a:cs typeface="+mn-cs"/>
      </a:defRPr>
    </a:lvl8pPr>
    <a:lvl9pPr marL="12073931" algn="l" defTabSz="3018486" rtl="0" eaLnBrk="1" latinLnBrk="0" hangingPunct="1">
      <a:defRPr sz="396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A6E1DD-C589-44A4-B774-5C71ED738215}" type="datetimeFigureOut">
              <a:rPr lang="zh-CN" altLang="en-US" smtClean="0"/>
              <a:t>2026/8/24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36ABD39-FC04-44CC-B893-29BE6501F1D3}" type="slidenum">
              <a:rPr lang="zh-CN" altLang="en-US" smtClean="0"/>
              <a:t>‹#›</a:t>
            </a:fld>
            <a:endParaRPr lang="zh-CN" altLang="en-US"/>
          </a:p>
        </p:txBody>
      </p:sp>
    </p:spTree>
    <p:extLst>
      <p:ext uri="{BB962C8B-B14F-4D97-AF65-F5344CB8AC3E}">
        <p14:creationId xmlns:p14="http://schemas.microsoft.com/office/powerpoint/2010/main" val="4207518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A6E1DD-C589-44A4-B774-5C71ED738215}" type="datetimeFigureOut">
              <a:rPr lang="zh-CN" altLang="en-US" smtClean="0"/>
              <a:t>2026/8/24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36ABD39-FC04-44CC-B893-29BE6501F1D3}" type="slidenum">
              <a:rPr lang="zh-CN" altLang="en-US" smtClean="0"/>
              <a:t>‹#›</a:t>
            </a:fld>
            <a:endParaRPr lang="zh-CN" altLang="en-US"/>
          </a:p>
        </p:txBody>
      </p:sp>
    </p:spTree>
    <p:extLst>
      <p:ext uri="{BB962C8B-B14F-4D97-AF65-F5344CB8AC3E}">
        <p14:creationId xmlns:p14="http://schemas.microsoft.com/office/powerpoint/2010/main" val="22664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A6E1DD-C589-44A4-B774-5C71ED738215}" type="datetimeFigureOut">
              <a:rPr lang="zh-CN" altLang="en-US" smtClean="0"/>
              <a:t>2026/8/24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36ABD39-FC04-44CC-B893-29BE6501F1D3}" type="slidenum">
              <a:rPr lang="zh-CN" altLang="en-US" smtClean="0"/>
              <a:t>‹#›</a:t>
            </a:fld>
            <a:endParaRPr lang="zh-CN" altLang="en-US"/>
          </a:p>
        </p:txBody>
      </p:sp>
    </p:spTree>
    <p:extLst>
      <p:ext uri="{BB962C8B-B14F-4D97-AF65-F5344CB8AC3E}">
        <p14:creationId xmlns:p14="http://schemas.microsoft.com/office/powerpoint/2010/main" val="1756104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A6E1DD-C589-44A4-B774-5C71ED738215}" type="datetimeFigureOut">
              <a:rPr lang="zh-CN" altLang="en-US" smtClean="0"/>
              <a:t>2026/8/24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36ABD39-FC04-44CC-B893-29BE6501F1D3}" type="slidenum">
              <a:rPr lang="zh-CN" altLang="en-US" smtClean="0"/>
              <a:t>‹#›</a:t>
            </a:fld>
            <a:endParaRPr lang="zh-CN" altLang="en-US"/>
          </a:p>
        </p:txBody>
      </p:sp>
    </p:spTree>
    <p:extLst>
      <p:ext uri="{BB962C8B-B14F-4D97-AF65-F5344CB8AC3E}">
        <p14:creationId xmlns:p14="http://schemas.microsoft.com/office/powerpoint/2010/main" val="4034933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A6E1DD-C589-44A4-B774-5C71ED738215}" type="datetimeFigureOut">
              <a:rPr lang="zh-CN" altLang="en-US" smtClean="0"/>
              <a:t>2026/8/24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36ABD39-FC04-44CC-B893-29BE6501F1D3}" type="slidenum">
              <a:rPr lang="zh-CN" altLang="en-US" smtClean="0"/>
              <a:t>‹#›</a:t>
            </a:fld>
            <a:endParaRPr lang="zh-CN" altLang="en-US"/>
          </a:p>
        </p:txBody>
      </p:sp>
    </p:spTree>
    <p:extLst>
      <p:ext uri="{BB962C8B-B14F-4D97-AF65-F5344CB8AC3E}">
        <p14:creationId xmlns:p14="http://schemas.microsoft.com/office/powerpoint/2010/main" val="3118260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A6E1DD-C589-44A4-B774-5C71ED738215}" type="datetimeFigureOut">
              <a:rPr lang="zh-CN" altLang="en-US" smtClean="0"/>
              <a:t>2026/8/24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36ABD39-FC04-44CC-B893-29BE6501F1D3}" type="slidenum">
              <a:rPr lang="zh-CN" altLang="en-US" smtClean="0"/>
              <a:t>‹#›</a:t>
            </a:fld>
            <a:endParaRPr lang="zh-CN" altLang="en-US"/>
          </a:p>
        </p:txBody>
      </p:sp>
    </p:spTree>
    <p:extLst>
      <p:ext uri="{BB962C8B-B14F-4D97-AF65-F5344CB8AC3E}">
        <p14:creationId xmlns:p14="http://schemas.microsoft.com/office/powerpoint/2010/main" val="2107782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A6E1DD-C589-44A4-B774-5C71ED738215}" type="datetimeFigureOut">
              <a:rPr lang="zh-CN" altLang="en-US" smtClean="0"/>
              <a:t>2026/8/24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36ABD39-FC04-44CC-B893-29BE6501F1D3}" type="slidenum">
              <a:rPr lang="zh-CN" altLang="en-US" smtClean="0"/>
              <a:t>‹#›</a:t>
            </a:fld>
            <a:endParaRPr lang="zh-CN" altLang="en-US"/>
          </a:p>
        </p:txBody>
      </p:sp>
    </p:spTree>
    <p:extLst>
      <p:ext uri="{BB962C8B-B14F-4D97-AF65-F5344CB8AC3E}">
        <p14:creationId xmlns:p14="http://schemas.microsoft.com/office/powerpoint/2010/main" val="54688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8EA6E1DD-C589-44A4-B774-5C71ED738215}" type="datetimeFigureOut">
              <a:rPr lang="zh-CN" altLang="en-US" smtClean="0"/>
              <a:t>2026/8/24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36ABD39-FC04-44CC-B893-29BE6501F1D3}" type="slidenum">
              <a:rPr lang="zh-CN" altLang="en-US" smtClean="0"/>
              <a:t>‹#›</a:t>
            </a:fld>
            <a:endParaRPr lang="zh-CN" altLang="en-US"/>
          </a:p>
        </p:txBody>
      </p:sp>
    </p:spTree>
    <p:extLst>
      <p:ext uri="{BB962C8B-B14F-4D97-AF65-F5344CB8AC3E}">
        <p14:creationId xmlns:p14="http://schemas.microsoft.com/office/powerpoint/2010/main" val="833419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dirty="0"/>
              <a:t>Click icon to add picture</a:t>
            </a:r>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8EA6E1DD-C589-44A4-B774-5C71ED738215}" type="datetimeFigureOut">
              <a:rPr lang="zh-CN" altLang="en-US" smtClean="0"/>
              <a:t>2026/8/24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36ABD39-FC04-44CC-B893-29BE6501F1D3}" type="slidenum">
              <a:rPr lang="zh-CN" altLang="en-US" smtClean="0"/>
              <a:t>‹#›</a:t>
            </a:fld>
            <a:endParaRPr lang="zh-CN" altLang="en-US"/>
          </a:p>
        </p:txBody>
      </p:sp>
    </p:spTree>
    <p:extLst>
      <p:ext uri="{BB962C8B-B14F-4D97-AF65-F5344CB8AC3E}">
        <p14:creationId xmlns:p14="http://schemas.microsoft.com/office/powerpoint/2010/main" val="1911816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A6E1DD-C589-44A4-B774-5C71ED738215}" type="datetimeFigureOut">
              <a:rPr lang="zh-CN" altLang="en-US" smtClean="0"/>
              <a:t>2026/8/24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36ABD39-FC04-44CC-B893-29BE6501F1D3}" type="slidenum">
              <a:rPr lang="zh-CN" altLang="en-US" smtClean="0"/>
              <a:t>‹#›</a:t>
            </a:fld>
            <a:endParaRPr lang="zh-CN" altLang="en-US"/>
          </a:p>
        </p:txBody>
      </p:sp>
    </p:spTree>
    <p:extLst>
      <p:ext uri="{BB962C8B-B14F-4D97-AF65-F5344CB8AC3E}">
        <p14:creationId xmlns:p14="http://schemas.microsoft.com/office/powerpoint/2010/main" val="3491296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A6E1DD-C589-44A4-B774-5C71ED738215}" type="datetimeFigureOut">
              <a:rPr lang="zh-CN" altLang="en-US" smtClean="0"/>
              <a:t>2026/8/24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36ABD39-FC04-44CC-B893-29BE6501F1D3}" type="slidenum">
              <a:rPr lang="zh-CN" altLang="en-US" smtClean="0"/>
              <a:t>‹#›</a:t>
            </a:fld>
            <a:endParaRPr lang="zh-CN" altLang="en-US"/>
          </a:p>
        </p:txBody>
      </p:sp>
    </p:spTree>
    <p:extLst>
      <p:ext uri="{BB962C8B-B14F-4D97-AF65-F5344CB8AC3E}">
        <p14:creationId xmlns:p14="http://schemas.microsoft.com/office/powerpoint/2010/main" val="4043725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8EA6E1DD-C589-44A4-B774-5C71ED738215}" type="datetimeFigureOut">
              <a:rPr lang="zh-CN" altLang="en-US" smtClean="0"/>
              <a:t>2026/8/24</a:t>
            </a:fld>
            <a:endParaRPr lang="zh-CN" altLang="en-US"/>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136ABD39-FC04-44CC-B893-29BE6501F1D3}" type="slidenum">
              <a:rPr lang="zh-CN" altLang="en-US" smtClean="0"/>
              <a:t>‹#›</a:t>
            </a:fld>
            <a:endParaRPr lang="zh-CN" altLang="en-US"/>
          </a:p>
        </p:txBody>
      </p:sp>
    </p:spTree>
    <p:extLst>
      <p:ext uri="{BB962C8B-B14F-4D97-AF65-F5344CB8AC3E}">
        <p14:creationId xmlns:p14="http://schemas.microsoft.com/office/powerpoint/2010/main" val="393995540"/>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DBCFAEC5-E9C9-FA67-362D-ED8B093B571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540" y="7803"/>
            <a:ext cx="30226606" cy="42732280"/>
          </a:xfrm>
          <a:prstGeom prst="rect">
            <a:avLst/>
          </a:prstGeom>
        </p:spPr>
      </p:pic>
      <p:sp>
        <p:nvSpPr>
          <p:cNvPr id="17" name="1 CuadroTexto">
            <a:extLst>
              <a:ext uri="{FF2B5EF4-FFF2-40B4-BE49-F238E27FC236}">
                <a16:creationId xmlns:a16="http://schemas.microsoft.com/office/drawing/2014/main" id="{6FBCDD99-3129-E73C-C3BE-756365D9C3FB}"/>
              </a:ext>
            </a:extLst>
          </p:cNvPr>
          <p:cNvSpPr txBox="1"/>
          <p:nvPr/>
        </p:nvSpPr>
        <p:spPr>
          <a:xfrm>
            <a:off x="21760310" y="39965924"/>
            <a:ext cx="7417623" cy="9615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4639" tIns="64639" rIns="64639" bIns="64639" numCol="1" spcCol="38100" rtlCol="0" anchor="t">
            <a:spAutoFit/>
          </a:bodyPr>
          <a:lstStyle/>
          <a:p>
            <a:pPr algn="r" defTabSz="1292779" hangingPunct="0"/>
            <a:r>
              <a:rPr lang="es-ES_tradnl" sz="5400" b="1" dirty="0">
                <a:solidFill>
                  <a:schemeClr val="bg1"/>
                </a:solidFill>
                <a:sym typeface="Calibri"/>
              </a:rPr>
              <a:t>ID: 1048</a:t>
            </a:r>
            <a:endParaRPr lang="es-CO" sz="5400" b="1" dirty="0">
              <a:solidFill>
                <a:schemeClr val="bg1"/>
              </a:solidFill>
              <a:sym typeface="Calibri"/>
            </a:endParaRPr>
          </a:p>
        </p:txBody>
      </p:sp>
      <p:sp>
        <p:nvSpPr>
          <p:cNvPr id="18" name="Title 9">
            <a:extLst>
              <a:ext uri="{FF2B5EF4-FFF2-40B4-BE49-F238E27FC236}">
                <a16:creationId xmlns:a16="http://schemas.microsoft.com/office/drawing/2014/main" id="{947F8005-0BED-618A-579F-FB2F50DF699D}"/>
              </a:ext>
            </a:extLst>
          </p:cNvPr>
          <p:cNvSpPr>
            <a:spLocks noGrp="1"/>
          </p:cNvSpPr>
          <p:nvPr>
            <p:ph type="title"/>
          </p:nvPr>
        </p:nvSpPr>
        <p:spPr>
          <a:xfrm>
            <a:off x="41023" y="144085"/>
            <a:ext cx="18442919" cy="6139905"/>
          </a:xfrm>
        </p:spPr>
        <p:txBody>
          <a:bodyPr>
            <a:noAutofit/>
          </a:bodyPr>
          <a:lstStyle/>
          <a:p>
            <a:pPr marL="0" marR="0" lvl="0" indent="0" algn="ctr" rtl="0">
              <a:spcBef>
                <a:spcPts val="0"/>
              </a:spcBef>
              <a:spcAft>
                <a:spcPts val="0"/>
              </a:spcAft>
              <a:buNone/>
            </a:pPr>
            <a:r>
              <a:rPr lang="en-US" sz="10200" b="1" dirty="0">
                <a:solidFill>
                  <a:schemeClr val="dk1"/>
                </a:solidFill>
                <a:latin typeface="Calibri"/>
                <a:ea typeface="Calibri"/>
                <a:cs typeface="Calibri"/>
                <a:sym typeface="Calibri"/>
              </a:rPr>
              <a:t>Effectiveness of Visual Acuity Test in VR vs the Real World</a:t>
            </a:r>
            <a:endParaRPr lang="en-US" sz="10200" b="1" i="0" strike="noStrike" cap="none" dirty="0">
              <a:solidFill>
                <a:schemeClr val="dk1"/>
              </a:solidFill>
              <a:latin typeface="Calibri"/>
              <a:ea typeface="Calibri"/>
              <a:cs typeface="Calibri"/>
              <a:sym typeface="Calibri"/>
            </a:endParaRPr>
          </a:p>
        </p:txBody>
      </p:sp>
      <p:grpSp>
        <p:nvGrpSpPr>
          <p:cNvPr id="19" name="Google Shape;93;p13">
            <a:extLst>
              <a:ext uri="{FF2B5EF4-FFF2-40B4-BE49-F238E27FC236}">
                <a16:creationId xmlns:a16="http://schemas.microsoft.com/office/drawing/2014/main" id="{389CCF0A-F5DA-4C43-8B24-49705DA371F4}"/>
              </a:ext>
            </a:extLst>
          </p:cNvPr>
          <p:cNvGrpSpPr/>
          <p:nvPr/>
        </p:nvGrpSpPr>
        <p:grpSpPr>
          <a:xfrm>
            <a:off x="3817912" y="6068989"/>
            <a:ext cx="6280407" cy="3234315"/>
            <a:chOff x="5103966" y="2421888"/>
            <a:chExt cx="21261373" cy="4076557"/>
          </a:xfrm>
        </p:grpSpPr>
        <p:sp>
          <p:nvSpPr>
            <p:cNvPr id="20" name="Google Shape;94;p13">
              <a:extLst>
                <a:ext uri="{FF2B5EF4-FFF2-40B4-BE49-F238E27FC236}">
                  <a16:creationId xmlns:a16="http://schemas.microsoft.com/office/drawing/2014/main" id="{384793B5-D251-0BEC-4972-C3552B31A6F8}"/>
                </a:ext>
              </a:extLst>
            </p:cNvPr>
            <p:cNvSpPr txBox="1"/>
            <p:nvPr/>
          </p:nvSpPr>
          <p:spPr>
            <a:xfrm>
              <a:off x="5103966" y="2421888"/>
              <a:ext cx="21261349" cy="4076557"/>
            </a:xfrm>
            <a:prstGeom prst="rect">
              <a:avLst/>
            </a:prstGeom>
            <a:noFill/>
            <a:ln>
              <a:noFill/>
            </a:ln>
          </p:spPr>
          <p:txBody>
            <a:bodyPr spcFirstLastPara="1" wrap="square" lIns="91425" tIns="91425" rIns="91425" bIns="91425" anchor="ctr" anchorCtr="0">
              <a:noAutofit/>
            </a:bodyPr>
            <a:lstStyle/>
            <a:p>
              <a:pPr algn="ctr" rtl="0">
                <a:spcBef>
                  <a:spcPts val="0"/>
                </a:spcBef>
                <a:spcAft>
                  <a:spcPts val="0"/>
                </a:spcAft>
              </a:pPr>
              <a:r>
                <a:rPr lang="en-US" sz="4000" b="1" dirty="0">
                  <a:latin typeface="Calibri" panose="020F0502020204030204" pitchFamily="34" charset="0"/>
                </a:rPr>
                <a:t>Sarker M. Asish</a:t>
              </a:r>
              <a:endParaRPr lang="en-US" sz="4000" b="0" dirty="0">
                <a:effectLst/>
              </a:endParaRPr>
            </a:p>
            <a:p>
              <a:pPr algn="ctr" rtl="0">
                <a:spcBef>
                  <a:spcPts val="0"/>
                </a:spcBef>
                <a:spcAft>
                  <a:spcPts val="0"/>
                </a:spcAft>
              </a:pPr>
              <a:r>
                <a:rPr lang="en-US" sz="4000" b="1" dirty="0">
                  <a:latin typeface="Calibri" panose="020F0502020204030204" pitchFamily="34" charset="0"/>
                </a:rPr>
                <a:t>Florida Polytechnic University</a:t>
              </a:r>
              <a:endParaRPr lang="en-US" sz="4000" b="0" dirty="0">
                <a:effectLst/>
              </a:endParaRPr>
            </a:p>
          </p:txBody>
        </p:sp>
        <p:grpSp>
          <p:nvGrpSpPr>
            <p:cNvPr id="21" name="Google Shape;98;p13">
              <a:extLst>
                <a:ext uri="{FF2B5EF4-FFF2-40B4-BE49-F238E27FC236}">
                  <a16:creationId xmlns:a16="http://schemas.microsoft.com/office/drawing/2014/main" id="{E41C0565-E426-7168-74DB-147DC16B5E44}"/>
                </a:ext>
              </a:extLst>
            </p:cNvPr>
            <p:cNvGrpSpPr/>
            <p:nvPr/>
          </p:nvGrpSpPr>
          <p:grpSpPr>
            <a:xfrm>
              <a:off x="6553732" y="2926892"/>
              <a:ext cx="19811607" cy="3016571"/>
              <a:chOff x="515450" y="2896624"/>
              <a:chExt cx="31887346" cy="3729226"/>
            </a:xfrm>
          </p:grpSpPr>
          <p:cxnSp>
            <p:nvCxnSpPr>
              <p:cNvPr id="22" name="Google Shape;99;p13">
                <a:extLst>
                  <a:ext uri="{FF2B5EF4-FFF2-40B4-BE49-F238E27FC236}">
                    <a16:creationId xmlns:a16="http://schemas.microsoft.com/office/drawing/2014/main" id="{0C58333D-7E94-7886-7C2D-B94C8632B3BC}"/>
                  </a:ext>
                </a:extLst>
              </p:cNvPr>
              <p:cNvCxnSpPr/>
              <p:nvPr/>
            </p:nvCxnSpPr>
            <p:spPr>
              <a:xfrm>
                <a:off x="515496" y="2896624"/>
                <a:ext cx="31887300" cy="0"/>
              </a:xfrm>
              <a:prstGeom prst="straightConnector1">
                <a:avLst/>
              </a:prstGeom>
              <a:noFill/>
              <a:ln w="76200" cap="flat" cmpd="sng">
                <a:solidFill>
                  <a:srgbClr val="000000"/>
                </a:solidFill>
                <a:prstDash val="solid"/>
                <a:round/>
                <a:headEnd type="none" w="sm" len="sm"/>
                <a:tailEnd type="none" w="sm" len="sm"/>
              </a:ln>
            </p:spPr>
          </p:cxnSp>
          <p:cxnSp>
            <p:nvCxnSpPr>
              <p:cNvPr id="23" name="Google Shape;100;p13">
                <a:extLst>
                  <a:ext uri="{FF2B5EF4-FFF2-40B4-BE49-F238E27FC236}">
                    <a16:creationId xmlns:a16="http://schemas.microsoft.com/office/drawing/2014/main" id="{143429E5-D042-9B8C-2A90-F80B81474BE2}"/>
                  </a:ext>
                </a:extLst>
              </p:cNvPr>
              <p:cNvCxnSpPr/>
              <p:nvPr/>
            </p:nvCxnSpPr>
            <p:spPr>
              <a:xfrm>
                <a:off x="515450" y="6625850"/>
                <a:ext cx="31887300" cy="0"/>
              </a:xfrm>
              <a:prstGeom prst="straightConnector1">
                <a:avLst/>
              </a:prstGeom>
              <a:noFill/>
              <a:ln w="76200" cap="flat" cmpd="sng">
                <a:solidFill>
                  <a:srgbClr val="000000"/>
                </a:solidFill>
                <a:prstDash val="solid"/>
                <a:round/>
                <a:headEnd type="none" w="sm" len="sm"/>
                <a:tailEnd type="none" w="sm" len="sm"/>
              </a:ln>
            </p:spPr>
          </p:cxnSp>
        </p:grpSp>
      </p:grpSp>
      <p:grpSp>
        <p:nvGrpSpPr>
          <p:cNvPr id="24" name="Google Shape;93;p13">
            <a:extLst>
              <a:ext uri="{FF2B5EF4-FFF2-40B4-BE49-F238E27FC236}">
                <a16:creationId xmlns:a16="http://schemas.microsoft.com/office/drawing/2014/main" id="{7BACD4CE-388B-56C8-1198-0E8E1865DF66}"/>
              </a:ext>
            </a:extLst>
          </p:cNvPr>
          <p:cNvGrpSpPr/>
          <p:nvPr/>
        </p:nvGrpSpPr>
        <p:grpSpPr>
          <a:xfrm>
            <a:off x="11541582" y="6075511"/>
            <a:ext cx="6280407" cy="3234315"/>
            <a:chOff x="5103966" y="2421888"/>
            <a:chExt cx="21261373" cy="4076557"/>
          </a:xfrm>
        </p:grpSpPr>
        <p:sp>
          <p:nvSpPr>
            <p:cNvPr id="26" name="Google Shape;94;p13">
              <a:extLst>
                <a:ext uri="{FF2B5EF4-FFF2-40B4-BE49-F238E27FC236}">
                  <a16:creationId xmlns:a16="http://schemas.microsoft.com/office/drawing/2014/main" id="{5EC21954-410E-9FA9-9FC1-914040F1184C}"/>
                </a:ext>
              </a:extLst>
            </p:cNvPr>
            <p:cNvSpPr txBox="1"/>
            <p:nvPr/>
          </p:nvSpPr>
          <p:spPr>
            <a:xfrm>
              <a:off x="5103966" y="2421888"/>
              <a:ext cx="21261349" cy="4076557"/>
            </a:xfrm>
            <a:prstGeom prst="rect">
              <a:avLst/>
            </a:prstGeom>
            <a:noFill/>
            <a:ln>
              <a:noFill/>
            </a:ln>
          </p:spPr>
          <p:txBody>
            <a:bodyPr spcFirstLastPara="1" wrap="square" lIns="91425" tIns="91425" rIns="91425" bIns="91425" anchor="ctr" anchorCtr="0">
              <a:noAutofit/>
            </a:bodyPr>
            <a:lstStyle/>
            <a:p>
              <a:pPr algn="ctr" rtl="0">
                <a:spcBef>
                  <a:spcPts val="0"/>
                </a:spcBef>
                <a:spcAft>
                  <a:spcPts val="0"/>
                </a:spcAft>
              </a:pPr>
              <a:endParaRPr lang="en-US" sz="4000" b="1" dirty="0">
                <a:latin typeface="Calibri" panose="020F0502020204030204" pitchFamily="34" charset="0"/>
              </a:endParaRPr>
            </a:p>
            <a:p>
              <a:pPr algn="ctr" rtl="0">
                <a:spcBef>
                  <a:spcPts val="0"/>
                </a:spcBef>
                <a:spcAft>
                  <a:spcPts val="0"/>
                </a:spcAft>
              </a:pPr>
              <a:r>
                <a:rPr lang="en-US" sz="4000" b="1" dirty="0">
                  <a:latin typeface="Calibri" panose="020F0502020204030204" pitchFamily="34" charset="0"/>
                </a:rPr>
                <a:t>Roberto E. Salazar</a:t>
              </a:r>
              <a:endParaRPr lang="en-US" sz="4000" b="0" dirty="0">
                <a:effectLst/>
              </a:endParaRPr>
            </a:p>
            <a:p>
              <a:pPr algn="ctr" rtl="0">
                <a:spcBef>
                  <a:spcPts val="0"/>
                </a:spcBef>
                <a:spcAft>
                  <a:spcPts val="0"/>
                </a:spcAft>
              </a:pPr>
              <a:r>
                <a:rPr lang="en-US" sz="4000" b="1" i="0" u="none" strike="noStrike" dirty="0">
                  <a:solidFill>
                    <a:srgbClr val="000000"/>
                  </a:solidFill>
                  <a:effectLst/>
                  <a:latin typeface="Calibri" panose="020F0502020204030204" pitchFamily="34" charset="0"/>
                </a:rPr>
                <a:t>University of Louisiana at Lafayette</a:t>
              </a:r>
              <a:endParaRPr lang="en-US" sz="4000" b="0" dirty="0">
                <a:effectLst/>
              </a:endParaRPr>
            </a:p>
            <a:p>
              <a:pPr algn="ctr" rtl="0">
                <a:spcBef>
                  <a:spcPts val="0"/>
                </a:spcBef>
                <a:spcAft>
                  <a:spcPts val="0"/>
                </a:spcAft>
              </a:pPr>
              <a:endParaRPr lang="en-US" sz="4000" b="0" dirty="0">
                <a:effectLst/>
              </a:endParaRPr>
            </a:p>
          </p:txBody>
        </p:sp>
        <p:grpSp>
          <p:nvGrpSpPr>
            <p:cNvPr id="27" name="Google Shape;98;p13">
              <a:extLst>
                <a:ext uri="{FF2B5EF4-FFF2-40B4-BE49-F238E27FC236}">
                  <a16:creationId xmlns:a16="http://schemas.microsoft.com/office/drawing/2014/main" id="{D3E5F380-BF44-5CC0-ED74-C746F3333CF2}"/>
                </a:ext>
              </a:extLst>
            </p:cNvPr>
            <p:cNvGrpSpPr/>
            <p:nvPr/>
          </p:nvGrpSpPr>
          <p:grpSpPr>
            <a:xfrm>
              <a:off x="6553732" y="2926892"/>
              <a:ext cx="19811607" cy="3016571"/>
              <a:chOff x="515450" y="2896624"/>
              <a:chExt cx="31887346" cy="3729226"/>
            </a:xfrm>
          </p:grpSpPr>
          <p:cxnSp>
            <p:nvCxnSpPr>
              <p:cNvPr id="28" name="Google Shape;99;p13">
                <a:extLst>
                  <a:ext uri="{FF2B5EF4-FFF2-40B4-BE49-F238E27FC236}">
                    <a16:creationId xmlns:a16="http://schemas.microsoft.com/office/drawing/2014/main" id="{43583247-F876-6B1D-7917-11C3F17CF1D4}"/>
                  </a:ext>
                </a:extLst>
              </p:cNvPr>
              <p:cNvCxnSpPr/>
              <p:nvPr/>
            </p:nvCxnSpPr>
            <p:spPr>
              <a:xfrm>
                <a:off x="515494" y="2896624"/>
                <a:ext cx="31887302" cy="0"/>
              </a:xfrm>
              <a:prstGeom prst="straightConnector1">
                <a:avLst/>
              </a:prstGeom>
              <a:noFill/>
              <a:ln w="76200" cap="flat" cmpd="sng">
                <a:solidFill>
                  <a:srgbClr val="000000"/>
                </a:solidFill>
                <a:prstDash val="solid"/>
                <a:round/>
                <a:headEnd type="none" w="sm" len="sm"/>
                <a:tailEnd type="none" w="sm" len="sm"/>
              </a:ln>
            </p:spPr>
          </p:cxnSp>
          <p:cxnSp>
            <p:nvCxnSpPr>
              <p:cNvPr id="30" name="Google Shape;100;p13">
                <a:extLst>
                  <a:ext uri="{FF2B5EF4-FFF2-40B4-BE49-F238E27FC236}">
                    <a16:creationId xmlns:a16="http://schemas.microsoft.com/office/drawing/2014/main" id="{ABB33E91-7324-FD32-6265-684342D2F91F}"/>
                  </a:ext>
                </a:extLst>
              </p:cNvPr>
              <p:cNvCxnSpPr/>
              <p:nvPr/>
            </p:nvCxnSpPr>
            <p:spPr>
              <a:xfrm>
                <a:off x="515450" y="6625850"/>
                <a:ext cx="31887300" cy="0"/>
              </a:xfrm>
              <a:prstGeom prst="straightConnector1">
                <a:avLst/>
              </a:prstGeom>
              <a:noFill/>
              <a:ln w="76200" cap="flat" cmpd="sng">
                <a:solidFill>
                  <a:srgbClr val="000000"/>
                </a:solidFill>
                <a:prstDash val="solid"/>
                <a:round/>
                <a:headEnd type="none" w="sm" len="sm"/>
                <a:tailEnd type="none" w="sm" len="sm"/>
              </a:ln>
            </p:spPr>
          </p:cxnSp>
        </p:grpSp>
      </p:grpSp>
      <p:grpSp>
        <p:nvGrpSpPr>
          <p:cNvPr id="31" name="Google Shape;93;p13">
            <a:extLst>
              <a:ext uri="{FF2B5EF4-FFF2-40B4-BE49-F238E27FC236}">
                <a16:creationId xmlns:a16="http://schemas.microsoft.com/office/drawing/2014/main" id="{450DB162-D0F5-DAFC-62B4-5A09BA11AD6D}"/>
              </a:ext>
            </a:extLst>
          </p:cNvPr>
          <p:cNvGrpSpPr/>
          <p:nvPr/>
        </p:nvGrpSpPr>
        <p:grpSpPr>
          <a:xfrm>
            <a:off x="19265245" y="6075511"/>
            <a:ext cx="6280407" cy="3234315"/>
            <a:chOff x="5103966" y="2421888"/>
            <a:chExt cx="21261373" cy="4076557"/>
          </a:xfrm>
        </p:grpSpPr>
        <p:sp>
          <p:nvSpPr>
            <p:cNvPr id="32" name="Google Shape;94;p13">
              <a:extLst>
                <a:ext uri="{FF2B5EF4-FFF2-40B4-BE49-F238E27FC236}">
                  <a16:creationId xmlns:a16="http://schemas.microsoft.com/office/drawing/2014/main" id="{17B56610-2E80-870E-DDEA-8895DCD8DBF3}"/>
                </a:ext>
              </a:extLst>
            </p:cNvPr>
            <p:cNvSpPr txBox="1"/>
            <p:nvPr/>
          </p:nvSpPr>
          <p:spPr>
            <a:xfrm>
              <a:off x="5103966" y="2421888"/>
              <a:ext cx="21261350" cy="4076557"/>
            </a:xfrm>
            <a:prstGeom prst="rect">
              <a:avLst/>
            </a:prstGeom>
            <a:noFill/>
            <a:ln>
              <a:noFill/>
            </a:ln>
          </p:spPr>
          <p:txBody>
            <a:bodyPr spcFirstLastPara="1" wrap="square" lIns="91425" tIns="91425" rIns="91425" bIns="91425" anchor="ctr" anchorCtr="0">
              <a:noAutofit/>
            </a:bodyPr>
            <a:lstStyle/>
            <a:p>
              <a:pPr algn="ctr" rtl="0">
                <a:spcBef>
                  <a:spcPts val="0"/>
                </a:spcBef>
                <a:spcAft>
                  <a:spcPts val="0"/>
                </a:spcAft>
              </a:pPr>
              <a:r>
                <a:rPr lang="en-US" sz="4000" b="1" i="0" u="none" strike="noStrike" dirty="0">
                  <a:solidFill>
                    <a:srgbClr val="000000"/>
                  </a:solidFill>
                  <a:effectLst/>
                  <a:latin typeface="Calibri" panose="020F0502020204030204" pitchFamily="34" charset="0"/>
                </a:rPr>
                <a:t>Arun K. Kulshreshth</a:t>
              </a:r>
              <a:endParaRPr lang="en-US" sz="4000" b="0" dirty="0">
                <a:effectLst/>
              </a:endParaRPr>
            </a:p>
            <a:p>
              <a:pPr algn="ctr" rtl="0">
                <a:spcBef>
                  <a:spcPts val="0"/>
                </a:spcBef>
                <a:spcAft>
                  <a:spcPts val="0"/>
                </a:spcAft>
              </a:pPr>
              <a:r>
                <a:rPr lang="en-US" sz="4000" b="1" i="0" u="none" strike="noStrike" dirty="0">
                  <a:solidFill>
                    <a:srgbClr val="000000"/>
                  </a:solidFill>
                  <a:effectLst/>
                  <a:latin typeface="Calibri" panose="020F0502020204030204" pitchFamily="34" charset="0"/>
                </a:rPr>
                <a:t>University of Louisiana at Lafayette</a:t>
              </a:r>
              <a:endParaRPr lang="en-US" sz="4000" b="0" dirty="0">
                <a:effectLst/>
              </a:endParaRPr>
            </a:p>
          </p:txBody>
        </p:sp>
        <p:grpSp>
          <p:nvGrpSpPr>
            <p:cNvPr id="33" name="Google Shape;98;p13">
              <a:extLst>
                <a:ext uri="{FF2B5EF4-FFF2-40B4-BE49-F238E27FC236}">
                  <a16:creationId xmlns:a16="http://schemas.microsoft.com/office/drawing/2014/main" id="{BCC81467-B24C-5368-4A0C-463181022C02}"/>
                </a:ext>
              </a:extLst>
            </p:cNvPr>
            <p:cNvGrpSpPr/>
            <p:nvPr/>
          </p:nvGrpSpPr>
          <p:grpSpPr>
            <a:xfrm>
              <a:off x="6553732" y="2926892"/>
              <a:ext cx="19811607" cy="3016571"/>
              <a:chOff x="515450" y="2896624"/>
              <a:chExt cx="31887346" cy="3729226"/>
            </a:xfrm>
          </p:grpSpPr>
          <p:cxnSp>
            <p:nvCxnSpPr>
              <p:cNvPr id="34" name="Google Shape;99;p13">
                <a:extLst>
                  <a:ext uri="{FF2B5EF4-FFF2-40B4-BE49-F238E27FC236}">
                    <a16:creationId xmlns:a16="http://schemas.microsoft.com/office/drawing/2014/main" id="{94BE5774-D730-256D-B927-17E6B6120FB5}"/>
                  </a:ext>
                </a:extLst>
              </p:cNvPr>
              <p:cNvCxnSpPr/>
              <p:nvPr/>
            </p:nvCxnSpPr>
            <p:spPr>
              <a:xfrm>
                <a:off x="515496" y="2896624"/>
                <a:ext cx="31887300" cy="0"/>
              </a:xfrm>
              <a:prstGeom prst="straightConnector1">
                <a:avLst/>
              </a:prstGeom>
              <a:noFill/>
              <a:ln w="76200" cap="flat" cmpd="sng">
                <a:solidFill>
                  <a:srgbClr val="000000"/>
                </a:solidFill>
                <a:prstDash val="solid"/>
                <a:round/>
                <a:headEnd type="none" w="sm" len="sm"/>
                <a:tailEnd type="none" w="sm" len="sm"/>
              </a:ln>
            </p:spPr>
          </p:cxnSp>
          <p:cxnSp>
            <p:nvCxnSpPr>
              <p:cNvPr id="35" name="Google Shape;100;p13">
                <a:extLst>
                  <a:ext uri="{FF2B5EF4-FFF2-40B4-BE49-F238E27FC236}">
                    <a16:creationId xmlns:a16="http://schemas.microsoft.com/office/drawing/2014/main" id="{FF86F4D2-AA3A-6CD2-C51B-F02F0BB82396}"/>
                  </a:ext>
                </a:extLst>
              </p:cNvPr>
              <p:cNvCxnSpPr/>
              <p:nvPr/>
            </p:nvCxnSpPr>
            <p:spPr>
              <a:xfrm>
                <a:off x="515450" y="6625850"/>
                <a:ext cx="31887300" cy="0"/>
              </a:xfrm>
              <a:prstGeom prst="straightConnector1">
                <a:avLst/>
              </a:prstGeom>
              <a:noFill/>
              <a:ln w="76200" cap="flat" cmpd="sng">
                <a:solidFill>
                  <a:srgbClr val="000000"/>
                </a:solidFill>
                <a:prstDash val="solid"/>
                <a:round/>
                <a:headEnd type="none" w="sm" len="sm"/>
                <a:tailEnd type="none" w="sm" len="sm"/>
              </a:ln>
            </p:spPr>
          </p:cxnSp>
        </p:grpSp>
      </p:grpSp>
      <p:sp>
        <p:nvSpPr>
          <p:cNvPr id="36" name="Google Shape;91;p13">
            <a:extLst>
              <a:ext uri="{FF2B5EF4-FFF2-40B4-BE49-F238E27FC236}">
                <a16:creationId xmlns:a16="http://schemas.microsoft.com/office/drawing/2014/main" id="{93764362-F9A7-B585-A13B-FA21EF45012C}"/>
              </a:ext>
            </a:extLst>
          </p:cNvPr>
          <p:cNvSpPr/>
          <p:nvPr/>
        </p:nvSpPr>
        <p:spPr>
          <a:xfrm>
            <a:off x="1648433" y="9270176"/>
            <a:ext cx="26616869" cy="3718533"/>
          </a:xfrm>
          <a:prstGeom prst="roundRect">
            <a:avLst>
              <a:gd name="adj" fmla="val 16667"/>
            </a:avLst>
          </a:prstGeom>
          <a:solidFill>
            <a:schemeClr val="lt1">
              <a:alpha val="0"/>
            </a:schemeClr>
          </a:solidFill>
          <a:ln w="38100" cap="flat" cmpd="sng">
            <a:solidFill>
              <a:srgbClr val="FF0000"/>
            </a:solidFill>
            <a:prstDash val="solid"/>
            <a:round/>
            <a:headEnd type="none" w="sm" len="sm"/>
            <a:tailEnd type="none" w="sm" len="sm"/>
          </a:ln>
        </p:spPr>
        <p:txBody>
          <a:bodyPr spcFirstLastPara="1" wrap="square" lIns="94595" tIns="47284" rIns="94595" bIns="47284" anchor="t" anchorCtr="0">
            <a:noAutofit/>
          </a:bodyPr>
          <a:lstStyle/>
          <a:p>
            <a:pPr algn="just">
              <a:spcBef>
                <a:spcPts val="1242"/>
              </a:spcBef>
              <a:spcAft>
                <a:spcPts val="621"/>
              </a:spcAft>
            </a:pPr>
            <a:r>
              <a:rPr lang="en-US" sz="4000" b="1" dirty="0">
                <a:solidFill>
                  <a:schemeClr val="dk1"/>
                </a:solidFill>
                <a:latin typeface="Calibri"/>
                <a:ea typeface="Calibri"/>
                <a:cs typeface="Calibri"/>
                <a:sym typeface="Calibri"/>
              </a:rPr>
              <a:t>ABSTRACT</a:t>
            </a:r>
            <a:r>
              <a:rPr lang="en-US" sz="4000" dirty="0">
                <a:solidFill>
                  <a:schemeClr val="dk1"/>
                </a:solidFill>
                <a:latin typeface="Calibri"/>
                <a:ea typeface="Calibri"/>
                <a:cs typeface="Calibri"/>
                <a:sym typeface="Calibri"/>
              </a:rPr>
              <a:t>: Virtual Reality (VR) devices have opened a new dimension of merging technology and healthcare in an immersive and exciting way to test eye vision. Visual acuity is a person's capacity to perceive small details. An optometrist or ophthalmologist determines a visual acuity score following a vision examination. In this work, we explored how recent VR devices could be utilized to conduct visual acuity tests. We used two Snellen charts to examine eye vision in VR, similar to testing in a doctor's chamber. We found that VR could be utilized to conduct preliminary eye vision tests.  </a:t>
            </a:r>
          </a:p>
        </p:txBody>
      </p:sp>
      <p:sp>
        <p:nvSpPr>
          <p:cNvPr id="37" name="Google Shape;107;p13">
            <a:extLst>
              <a:ext uri="{FF2B5EF4-FFF2-40B4-BE49-F238E27FC236}">
                <a16:creationId xmlns:a16="http://schemas.microsoft.com/office/drawing/2014/main" id="{54A80A09-1E00-9974-2195-BC5DCE18F45E}"/>
              </a:ext>
            </a:extLst>
          </p:cNvPr>
          <p:cNvSpPr/>
          <p:nvPr/>
        </p:nvSpPr>
        <p:spPr>
          <a:xfrm>
            <a:off x="1637591" y="13373316"/>
            <a:ext cx="12711051" cy="11209261"/>
          </a:xfrm>
          <a:prstGeom prst="roundRect">
            <a:avLst>
              <a:gd name="adj" fmla="val 6525"/>
            </a:avLst>
          </a:prstGeom>
          <a:noFill/>
          <a:ln w="38100" cap="flat" cmpd="sng">
            <a:solidFill>
              <a:srgbClr val="0B8AB1"/>
            </a:solidFill>
            <a:prstDash val="solid"/>
            <a:round/>
            <a:headEnd type="none" w="sm" len="sm"/>
            <a:tailEnd type="none" w="sm" len="sm"/>
          </a:ln>
        </p:spPr>
        <p:txBody>
          <a:bodyPr spcFirstLastPara="1" wrap="square" lIns="94595" tIns="47284" rIns="94595" bIns="47284" anchor="ctr" anchorCtr="0">
            <a:noAutofit/>
          </a:bodyPr>
          <a:lstStyle/>
          <a:p>
            <a:pPr algn="ctr"/>
            <a:endParaRPr sz="7657" dirty="0">
              <a:solidFill>
                <a:schemeClr val="dk1"/>
              </a:solidFill>
              <a:latin typeface="Calibri"/>
              <a:ea typeface="Calibri"/>
              <a:cs typeface="Calibri"/>
              <a:sym typeface="Calibri"/>
            </a:endParaRPr>
          </a:p>
        </p:txBody>
      </p:sp>
      <p:sp>
        <p:nvSpPr>
          <p:cNvPr id="39" name="Google Shape;121;p13">
            <a:extLst>
              <a:ext uri="{FF2B5EF4-FFF2-40B4-BE49-F238E27FC236}">
                <a16:creationId xmlns:a16="http://schemas.microsoft.com/office/drawing/2014/main" id="{C04AD026-B1DE-79EE-EF3A-DCC5EA54C8A3}"/>
              </a:ext>
            </a:extLst>
          </p:cNvPr>
          <p:cNvSpPr/>
          <p:nvPr/>
        </p:nvSpPr>
        <p:spPr>
          <a:xfrm>
            <a:off x="14838053" y="13361988"/>
            <a:ext cx="13387251" cy="10801249"/>
          </a:xfrm>
          <a:prstGeom prst="roundRect">
            <a:avLst>
              <a:gd name="adj" fmla="val 16667"/>
            </a:avLst>
          </a:prstGeom>
          <a:solidFill>
            <a:schemeClr val="lt1"/>
          </a:solidFill>
          <a:ln w="38100" cap="flat" cmpd="sng">
            <a:solidFill>
              <a:srgbClr val="FF0000"/>
            </a:solidFill>
            <a:prstDash val="solid"/>
            <a:round/>
            <a:headEnd type="none" w="sm" len="sm"/>
            <a:tailEnd type="none" w="sm" len="sm"/>
          </a:ln>
        </p:spPr>
        <p:txBody>
          <a:bodyPr spcFirstLastPara="1" wrap="square" lIns="94595" tIns="47284" rIns="94595" bIns="47284" anchor="t" anchorCtr="0">
            <a:noAutofit/>
          </a:bodyPr>
          <a:lstStyle/>
          <a:p>
            <a:pPr marL="591331" lvl="3" indent="-591331" algn="just">
              <a:spcBef>
                <a:spcPts val="310"/>
              </a:spcBef>
              <a:buFont typeface="Arial" panose="020B0604020202020204" pitchFamily="34" charset="0"/>
              <a:buChar char="•"/>
            </a:pPr>
            <a:endParaRPr lang="en-US" sz="3725" dirty="0">
              <a:solidFill>
                <a:schemeClr val="dk1"/>
              </a:solidFill>
              <a:latin typeface="Calibri"/>
              <a:cs typeface="Calibri"/>
              <a:sym typeface="Calibri"/>
            </a:endParaRPr>
          </a:p>
          <a:p>
            <a:pPr marL="591331" indent="-591331">
              <a:buFont typeface="Arial" panose="020B0604020202020204" pitchFamily="34" charset="0"/>
              <a:buChar char="•"/>
            </a:pPr>
            <a:endParaRPr sz="3725" dirty="0">
              <a:solidFill>
                <a:schemeClr val="dk1"/>
              </a:solidFill>
              <a:latin typeface="Helvetica Neue"/>
              <a:ea typeface="Helvetica Neue"/>
              <a:cs typeface="Helvetica Neue"/>
              <a:sym typeface="Helvetica Neue"/>
            </a:endParaRPr>
          </a:p>
        </p:txBody>
      </p:sp>
      <p:sp>
        <p:nvSpPr>
          <p:cNvPr id="40" name="Google Shape;121;p13">
            <a:extLst>
              <a:ext uri="{FF2B5EF4-FFF2-40B4-BE49-F238E27FC236}">
                <a16:creationId xmlns:a16="http://schemas.microsoft.com/office/drawing/2014/main" id="{E8AC103A-1D8E-B6E3-D788-5AF3536EF048}"/>
              </a:ext>
            </a:extLst>
          </p:cNvPr>
          <p:cNvSpPr/>
          <p:nvPr/>
        </p:nvSpPr>
        <p:spPr>
          <a:xfrm>
            <a:off x="15104723" y="13735964"/>
            <a:ext cx="12832226" cy="10175193"/>
          </a:xfrm>
          <a:prstGeom prst="roundRect">
            <a:avLst>
              <a:gd name="adj" fmla="val 16667"/>
            </a:avLst>
          </a:prstGeom>
          <a:blipFill>
            <a:blip r:embed="rId3">
              <a:extLst>
                <a:ext uri="{28A0092B-C50C-407E-A947-70E740481C1C}">
                  <a14:useLocalDpi xmlns:a14="http://schemas.microsoft.com/office/drawing/2010/main" val="0"/>
                </a:ext>
              </a:extLst>
            </a:blip>
            <a:stretch>
              <a:fillRect l="-1249" t="-660" r="-1119" b="-656"/>
            </a:stretch>
          </a:blipFill>
          <a:ln w="38100" cap="flat" cmpd="sng">
            <a:noFill/>
            <a:prstDash val="solid"/>
            <a:round/>
            <a:headEnd type="none" w="sm" len="sm"/>
            <a:tailEnd type="none" w="sm" len="sm"/>
          </a:ln>
        </p:spPr>
        <p:txBody>
          <a:bodyPr spcFirstLastPara="1" wrap="square" lIns="94595" tIns="47284" rIns="94595" bIns="47284" anchor="t" anchorCtr="0">
            <a:noAutofit/>
          </a:bodyPr>
          <a:lstStyle/>
          <a:p>
            <a:pPr marL="591331" lvl="3" indent="-591331" algn="just">
              <a:spcBef>
                <a:spcPts val="310"/>
              </a:spcBef>
              <a:buFont typeface="Arial" panose="020B0604020202020204" pitchFamily="34" charset="0"/>
              <a:buChar char="•"/>
            </a:pPr>
            <a:endParaRPr lang="en-US" sz="3725" dirty="0">
              <a:solidFill>
                <a:schemeClr val="dk1"/>
              </a:solidFill>
              <a:latin typeface="Calibri"/>
              <a:cs typeface="Calibri"/>
              <a:sym typeface="Calibri"/>
            </a:endParaRPr>
          </a:p>
          <a:p>
            <a:pPr marL="591331" indent="-591331">
              <a:buFont typeface="Arial" panose="020B0604020202020204" pitchFamily="34" charset="0"/>
              <a:buChar char="•"/>
            </a:pPr>
            <a:endParaRPr sz="3725" dirty="0">
              <a:solidFill>
                <a:schemeClr val="dk1"/>
              </a:solidFill>
              <a:latin typeface="Helvetica Neue"/>
              <a:ea typeface="Helvetica Neue"/>
              <a:cs typeface="Helvetica Neue"/>
              <a:sym typeface="Helvetica Neue"/>
            </a:endParaRPr>
          </a:p>
        </p:txBody>
      </p:sp>
      <p:grpSp>
        <p:nvGrpSpPr>
          <p:cNvPr id="41" name="Google Shape;101;p13">
            <a:extLst>
              <a:ext uri="{FF2B5EF4-FFF2-40B4-BE49-F238E27FC236}">
                <a16:creationId xmlns:a16="http://schemas.microsoft.com/office/drawing/2014/main" id="{19E118F0-EB0E-ECC6-7C26-2844AE189534}"/>
              </a:ext>
            </a:extLst>
          </p:cNvPr>
          <p:cNvGrpSpPr/>
          <p:nvPr/>
        </p:nvGrpSpPr>
        <p:grpSpPr>
          <a:xfrm>
            <a:off x="14815941" y="34538870"/>
            <a:ext cx="13290151" cy="5275437"/>
            <a:chOff x="387582" y="16439486"/>
            <a:chExt cx="13912829" cy="4145679"/>
          </a:xfrm>
          <a:solidFill>
            <a:schemeClr val="lt1">
              <a:alpha val="65000"/>
            </a:schemeClr>
          </a:solidFill>
        </p:grpSpPr>
        <p:sp>
          <p:nvSpPr>
            <p:cNvPr id="42" name="Google Shape;102;p13" descr="fgsfg" title="gtrg">
              <a:extLst>
                <a:ext uri="{FF2B5EF4-FFF2-40B4-BE49-F238E27FC236}">
                  <a16:creationId xmlns:a16="http://schemas.microsoft.com/office/drawing/2014/main" id="{2DD8FC3F-B8F6-7965-964C-C9A2EA2122C2}"/>
                </a:ext>
              </a:extLst>
            </p:cNvPr>
            <p:cNvSpPr/>
            <p:nvPr/>
          </p:nvSpPr>
          <p:spPr>
            <a:xfrm>
              <a:off x="387582" y="16439486"/>
              <a:ext cx="13912829" cy="4145679"/>
            </a:xfrm>
            <a:prstGeom prst="roundRect">
              <a:avLst>
                <a:gd name="adj" fmla="val 11624"/>
              </a:avLst>
            </a:prstGeom>
            <a:grpFill/>
            <a:ln w="38100" cap="flat" cmpd="sng">
              <a:solidFill>
                <a:srgbClr val="FF0000"/>
              </a:solidFill>
              <a:prstDash val="solid"/>
              <a:round/>
              <a:headEnd type="none" w="sm" len="sm"/>
              <a:tailEnd type="none" w="sm" len="sm"/>
            </a:ln>
          </p:spPr>
          <p:txBody>
            <a:bodyPr spcFirstLastPara="1" wrap="square" lIns="556470" tIns="278222" rIns="556470" bIns="278222" anchor="ctr" anchorCtr="0">
              <a:noAutofit/>
            </a:bodyPr>
            <a:lstStyle/>
            <a:p>
              <a:pPr algn="ctr">
                <a:buClr>
                  <a:schemeClr val="dk1"/>
                </a:buClr>
                <a:buSzPts val="3600"/>
              </a:pPr>
              <a:endParaRPr sz="3725" dirty="0">
                <a:solidFill>
                  <a:schemeClr val="dk1"/>
                </a:solidFill>
                <a:latin typeface="Libre Franklin"/>
                <a:ea typeface="Libre Franklin"/>
                <a:cs typeface="Libre Franklin"/>
                <a:sym typeface="Libre Franklin"/>
              </a:endParaRPr>
            </a:p>
          </p:txBody>
        </p:sp>
        <p:sp>
          <p:nvSpPr>
            <p:cNvPr id="43" name="Google Shape;103;p13">
              <a:extLst>
                <a:ext uri="{FF2B5EF4-FFF2-40B4-BE49-F238E27FC236}">
                  <a16:creationId xmlns:a16="http://schemas.microsoft.com/office/drawing/2014/main" id="{45D255BE-275F-BFA5-EC78-E64F17410C58}"/>
                </a:ext>
              </a:extLst>
            </p:cNvPr>
            <p:cNvSpPr/>
            <p:nvPr/>
          </p:nvSpPr>
          <p:spPr>
            <a:xfrm>
              <a:off x="910511" y="16571932"/>
              <a:ext cx="12866970" cy="3733594"/>
            </a:xfrm>
            <a:prstGeom prst="rect">
              <a:avLst/>
            </a:prstGeom>
            <a:grpFill/>
            <a:ln>
              <a:noFill/>
            </a:ln>
          </p:spPr>
          <p:txBody>
            <a:bodyPr spcFirstLastPara="1" wrap="square" lIns="114796" tIns="57372" rIns="114796" bIns="57372" anchor="t" anchorCtr="0">
              <a:noAutofit/>
            </a:bodyPr>
            <a:lstStyle/>
            <a:p>
              <a:pPr>
                <a:lnSpc>
                  <a:spcPct val="150000"/>
                </a:lnSpc>
                <a:buClr>
                  <a:schemeClr val="dk1"/>
                </a:buClr>
                <a:buSzPts val="4400"/>
              </a:pPr>
              <a:r>
                <a:rPr lang="en-US" sz="4600" b="1" cap="small" dirty="0">
                  <a:solidFill>
                    <a:schemeClr val="dk1"/>
                  </a:solidFill>
                  <a:latin typeface="Calibri" panose="020F0502020204030204" pitchFamily="34" charset="0"/>
                  <a:ea typeface="Franklin Gothic"/>
                  <a:cs typeface="Calibri" panose="020F0502020204030204" pitchFamily="34" charset="0"/>
                  <a:sym typeface="Franklin Gothic"/>
                </a:rPr>
                <a:t>CONCLUSION AND FUTURE WORK</a:t>
              </a:r>
              <a:endParaRPr lang="en-US" sz="4600" dirty="0">
                <a:latin typeface="Calibri" panose="020F0502020204030204" pitchFamily="34" charset="0"/>
                <a:cs typeface="Calibri" panose="020F0502020204030204" pitchFamily="34" charset="0"/>
              </a:endParaRPr>
            </a:p>
            <a:p>
              <a:pPr marL="591331" indent="-591331">
                <a:spcBef>
                  <a:spcPts val="310"/>
                </a:spcBef>
                <a:spcAft>
                  <a:spcPts val="1242"/>
                </a:spcAft>
                <a:buClr>
                  <a:schemeClr val="dk1"/>
                </a:buClr>
                <a:buSzPts val="3600"/>
                <a:buFont typeface="Calibri"/>
                <a:buChar char="•"/>
              </a:pPr>
              <a:r>
                <a:rPr lang="en-US" sz="4000" dirty="0">
                  <a:solidFill>
                    <a:schemeClr val="dk1"/>
                  </a:solidFill>
                  <a:latin typeface="Calibri"/>
                  <a:ea typeface="Calibri"/>
                  <a:cs typeface="Calibri"/>
                  <a:sym typeface="Calibri"/>
                </a:rPr>
                <a:t> VR-based visual acuity tests are a viable option as a preliminary test before visiting an eye doctor.</a:t>
              </a:r>
            </a:p>
            <a:p>
              <a:pPr marL="591331" indent="-591331">
                <a:spcBef>
                  <a:spcPts val="310"/>
                </a:spcBef>
                <a:spcAft>
                  <a:spcPts val="1242"/>
                </a:spcAft>
                <a:buClr>
                  <a:schemeClr val="dk1"/>
                </a:buClr>
                <a:buSzPts val="3600"/>
                <a:buFont typeface="Calibri"/>
                <a:buChar char="•"/>
              </a:pPr>
              <a:r>
                <a:rPr lang="en-US" sz="4000" dirty="0">
                  <a:latin typeface="Calibri" panose="020F0502020204030204" pitchFamily="34" charset="0"/>
                  <a:cs typeface="Calibri" panose="020F0502020204030204" pitchFamily="34" charset="0"/>
                </a:rPr>
                <a:t>In the future, we will integrate eye tracking and investigate the pattern of low-vision people's gaze behavior for early detection of vision problems.</a:t>
              </a:r>
              <a:endParaRPr sz="4000" dirty="0"/>
            </a:p>
          </p:txBody>
        </p:sp>
      </p:grpSp>
      <p:sp>
        <p:nvSpPr>
          <p:cNvPr id="44" name="Google Shape;121;p13">
            <a:extLst>
              <a:ext uri="{FF2B5EF4-FFF2-40B4-BE49-F238E27FC236}">
                <a16:creationId xmlns:a16="http://schemas.microsoft.com/office/drawing/2014/main" id="{3BC3D794-AEF6-5374-6E71-AC66782D4E1A}"/>
              </a:ext>
            </a:extLst>
          </p:cNvPr>
          <p:cNvSpPr/>
          <p:nvPr/>
        </p:nvSpPr>
        <p:spPr>
          <a:xfrm>
            <a:off x="14827211" y="24454681"/>
            <a:ext cx="13387251" cy="9921364"/>
          </a:xfrm>
          <a:prstGeom prst="roundRect">
            <a:avLst>
              <a:gd name="adj" fmla="val 16667"/>
            </a:avLst>
          </a:prstGeom>
          <a:solidFill>
            <a:schemeClr val="lt1">
              <a:alpha val="70000"/>
            </a:schemeClr>
          </a:solidFill>
          <a:ln w="38100" cap="flat" cmpd="sng">
            <a:solidFill>
              <a:srgbClr val="FF0000"/>
            </a:solidFill>
            <a:prstDash val="solid"/>
            <a:round/>
            <a:headEnd type="none" w="sm" len="sm"/>
            <a:tailEnd type="none" w="sm" len="sm"/>
          </a:ln>
        </p:spPr>
        <p:txBody>
          <a:bodyPr spcFirstLastPara="1" wrap="square" lIns="94595" tIns="47284" rIns="94595" bIns="47284" anchor="t" anchorCtr="0">
            <a:normAutofit fontScale="77500" lnSpcReduction="20000"/>
          </a:bodyPr>
          <a:lstStyle/>
          <a:p>
            <a:pPr>
              <a:lnSpc>
                <a:spcPct val="150000"/>
              </a:lnSpc>
              <a:buClr>
                <a:schemeClr val="dk1"/>
              </a:buClr>
              <a:buSzPts val="4400"/>
            </a:pPr>
            <a:r>
              <a:rPr lang="en-US" sz="5400" b="1" cap="small" dirty="0">
                <a:solidFill>
                  <a:schemeClr val="dk1"/>
                </a:solidFill>
                <a:latin typeface="Calibri" panose="020F0502020204030204" pitchFamily="34" charset="0"/>
                <a:cs typeface="Calibri" panose="020F0502020204030204" pitchFamily="34" charset="0"/>
                <a:sym typeface="Calibri"/>
              </a:rPr>
              <a:t>METHODOLOGY</a:t>
            </a:r>
          </a:p>
          <a:p>
            <a:pPr marL="591331" indent="-591331" algn="just">
              <a:spcBef>
                <a:spcPts val="310"/>
              </a:spcBef>
              <a:spcAft>
                <a:spcPts val="1242"/>
              </a:spcAft>
              <a:buFont typeface="Arial" panose="020B0604020202020204" pitchFamily="34" charset="0"/>
              <a:buChar char="•"/>
            </a:pPr>
            <a:r>
              <a:rPr lang="en-US" sz="4600" dirty="0">
                <a:solidFill>
                  <a:schemeClr val="dk1"/>
                </a:solidFill>
                <a:latin typeface="Calibri"/>
                <a:cs typeface="Calibri"/>
                <a:sym typeface="Calibri"/>
              </a:rPr>
              <a:t>We created a VR environment for testing visual acuity and compared it with the real-world vision test.</a:t>
            </a:r>
          </a:p>
          <a:p>
            <a:pPr marL="591331" indent="-591331" algn="just">
              <a:spcBef>
                <a:spcPts val="310"/>
              </a:spcBef>
              <a:spcAft>
                <a:spcPts val="1242"/>
              </a:spcAft>
              <a:buFont typeface="Arial" panose="020B0604020202020204" pitchFamily="34" charset="0"/>
              <a:buChar char="•"/>
            </a:pPr>
            <a:r>
              <a:rPr lang="en-US" sz="4600" dirty="0">
                <a:solidFill>
                  <a:schemeClr val="dk1"/>
                </a:solidFill>
                <a:latin typeface="Calibri"/>
                <a:cs typeface="Calibri"/>
                <a:sym typeface="Calibri"/>
              </a:rPr>
              <a:t>Two charts: one for 10 feet distance, and the other for 20 feet distance from the participant. </a:t>
            </a:r>
          </a:p>
          <a:p>
            <a:pPr marL="591331" indent="-591331" algn="just">
              <a:spcBef>
                <a:spcPts val="310"/>
              </a:spcBef>
              <a:spcAft>
                <a:spcPts val="1242"/>
              </a:spcAft>
              <a:buFont typeface="Arial" panose="020B0604020202020204" pitchFamily="34" charset="0"/>
              <a:buChar char="•"/>
            </a:pPr>
            <a:r>
              <a:rPr lang="en-US" sz="4600" dirty="0">
                <a:solidFill>
                  <a:schemeClr val="dk1"/>
                </a:solidFill>
                <a:latin typeface="Calibri"/>
                <a:cs typeface="Calibri"/>
                <a:sym typeface="Calibri"/>
              </a:rPr>
              <a:t>Three conditions for each chart : </a:t>
            </a:r>
          </a:p>
          <a:p>
            <a:pPr marL="1200150" lvl="1" indent="-742950" algn="just">
              <a:lnSpc>
                <a:spcPct val="120000"/>
              </a:lnSpc>
              <a:spcBef>
                <a:spcPts val="310"/>
              </a:spcBef>
              <a:spcAft>
                <a:spcPts val="1242"/>
              </a:spcAft>
              <a:buFont typeface="+mj-lt"/>
              <a:buAutoNum type="arabicParenR"/>
              <a:tabLst>
                <a:tab pos="962025" algn="l"/>
              </a:tabLst>
            </a:pPr>
            <a:r>
              <a:rPr lang="en-US" sz="4100" b="1" u="sng" dirty="0">
                <a:solidFill>
                  <a:schemeClr val="dk1"/>
                </a:solidFill>
                <a:latin typeface="Calibri"/>
                <a:cs typeface="Calibri"/>
                <a:sym typeface="Calibri"/>
              </a:rPr>
              <a:t>Real-World</a:t>
            </a:r>
            <a:r>
              <a:rPr lang="en-US" sz="4100" dirty="0">
                <a:solidFill>
                  <a:schemeClr val="dk1"/>
                </a:solidFill>
                <a:latin typeface="Calibri"/>
                <a:cs typeface="Calibri"/>
                <a:sym typeface="Calibri"/>
              </a:rPr>
              <a:t>: a real chart displayed in a room with natural lighting conditions.</a:t>
            </a:r>
          </a:p>
          <a:p>
            <a:pPr marL="1200150" lvl="1" indent="-742950" algn="just">
              <a:lnSpc>
                <a:spcPct val="120000"/>
              </a:lnSpc>
              <a:spcBef>
                <a:spcPts val="310"/>
              </a:spcBef>
              <a:spcAft>
                <a:spcPts val="1242"/>
              </a:spcAft>
              <a:buFont typeface="+mj-lt"/>
              <a:buAutoNum type="arabicParenR"/>
            </a:pPr>
            <a:r>
              <a:rPr lang="en-US" sz="4100" b="1" u="sng" dirty="0">
                <a:solidFill>
                  <a:schemeClr val="dk1"/>
                </a:solidFill>
                <a:latin typeface="Calibri"/>
                <a:cs typeface="Calibri"/>
                <a:sym typeface="Calibri"/>
              </a:rPr>
              <a:t>JPG Image in VR</a:t>
            </a:r>
            <a:r>
              <a:rPr lang="en-US" sz="4100" dirty="0">
                <a:solidFill>
                  <a:schemeClr val="dk1"/>
                </a:solidFill>
                <a:latin typeface="Calibri"/>
                <a:cs typeface="Calibri"/>
                <a:sym typeface="Calibri"/>
              </a:rPr>
              <a:t>: chart displayed in the VR scene in JPG format.</a:t>
            </a:r>
          </a:p>
          <a:p>
            <a:pPr marL="1200150" lvl="1" indent="-742950" algn="just">
              <a:lnSpc>
                <a:spcPct val="120000"/>
              </a:lnSpc>
              <a:spcBef>
                <a:spcPts val="310"/>
              </a:spcBef>
              <a:spcAft>
                <a:spcPts val="1242"/>
              </a:spcAft>
              <a:buFont typeface="+mj-lt"/>
              <a:buAutoNum type="arabicParenR"/>
            </a:pPr>
            <a:r>
              <a:rPr lang="en-US" sz="4100" b="1" u="sng" dirty="0">
                <a:solidFill>
                  <a:schemeClr val="dk1"/>
                </a:solidFill>
                <a:latin typeface="Calibri"/>
                <a:cs typeface="Calibri"/>
                <a:sym typeface="Calibri"/>
              </a:rPr>
              <a:t>SVG Image in VR</a:t>
            </a:r>
            <a:r>
              <a:rPr lang="en-US" sz="4100" dirty="0">
                <a:solidFill>
                  <a:schemeClr val="dk1"/>
                </a:solidFill>
                <a:latin typeface="Calibri"/>
                <a:cs typeface="Calibri"/>
                <a:sym typeface="Calibri"/>
              </a:rPr>
              <a:t>:  chart displayed in the VR scene as SVG format. </a:t>
            </a:r>
          </a:p>
          <a:p>
            <a:pPr marL="591331" indent="-591331" algn="just">
              <a:spcBef>
                <a:spcPts val="310"/>
              </a:spcBef>
              <a:spcAft>
                <a:spcPts val="1242"/>
              </a:spcAft>
              <a:buFont typeface="Arial" panose="020B0604020202020204" pitchFamily="34" charset="0"/>
              <a:buChar char="•"/>
            </a:pPr>
            <a:r>
              <a:rPr lang="en-US" sz="4600" dirty="0">
                <a:solidFill>
                  <a:schemeClr val="dk1"/>
                </a:solidFill>
                <a:latin typeface="Calibri"/>
                <a:cs typeface="Calibri"/>
                <a:sym typeface="Calibri"/>
              </a:rPr>
              <a:t>Nine participants (seven males and two females, age range: 20 to 31) attended our pilot trial using Meta Quest Pro VR headset.</a:t>
            </a:r>
          </a:p>
          <a:p>
            <a:pPr marL="591331" indent="-591331" algn="just">
              <a:spcBef>
                <a:spcPts val="310"/>
              </a:spcBef>
              <a:spcAft>
                <a:spcPts val="1242"/>
              </a:spcAft>
              <a:buFont typeface="Arial" panose="020B0604020202020204" pitchFamily="34" charset="0"/>
              <a:buChar char="•"/>
            </a:pPr>
            <a:r>
              <a:rPr lang="en-US" sz="4600" dirty="0">
                <a:solidFill>
                  <a:schemeClr val="dk1"/>
                </a:solidFill>
                <a:latin typeface="Calibri"/>
                <a:cs typeface="Calibri"/>
                <a:sym typeface="Calibri"/>
              </a:rPr>
              <a:t>Most participants had similar scores in VR conditions and the real-world.</a:t>
            </a:r>
          </a:p>
        </p:txBody>
      </p:sp>
      <p:grpSp>
        <p:nvGrpSpPr>
          <p:cNvPr id="45" name="Google Shape;101;p13">
            <a:extLst>
              <a:ext uri="{FF2B5EF4-FFF2-40B4-BE49-F238E27FC236}">
                <a16:creationId xmlns:a16="http://schemas.microsoft.com/office/drawing/2014/main" id="{E071CE5D-0313-FC87-65D7-F94BEC0D474F}"/>
              </a:ext>
            </a:extLst>
          </p:cNvPr>
          <p:cNvGrpSpPr/>
          <p:nvPr/>
        </p:nvGrpSpPr>
        <p:grpSpPr>
          <a:xfrm>
            <a:off x="1386007" y="24966956"/>
            <a:ext cx="13116931" cy="14847353"/>
            <a:chOff x="229796" y="14937680"/>
            <a:chExt cx="14248200" cy="5827755"/>
          </a:xfrm>
        </p:grpSpPr>
        <p:sp>
          <p:nvSpPr>
            <p:cNvPr id="46" name="Google Shape;102;p13" descr="fgsfg" title="gtrg">
              <a:extLst>
                <a:ext uri="{FF2B5EF4-FFF2-40B4-BE49-F238E27FC236}">
                  <a16:creationId xmlns:a16="http://schemas.microsoft.com/office/drawing/2014/main" id="{53931320-A68F-144D-B60A-701D7373F9A3}"/>
                </a:ext>
              </a:extLst>
            </p:cNvPr>
            <p:cNvSpPr/>
            <p:nvPr/>
          </p:nvSpPr>
          <p:spPr>
            <a:xfrm>
              <a:off x="229796" y="14937680"/>
              <a:ext cx="14248200" cy="5827755"/>
            </a:xfrm>
            <a:prstGeom prst="roundRect">
              <a:avLst>
                <a:gd name="adj" fmla="val 11624"/>
              </a:avLst>
            </a:prstGeom>
            <a:noFill/>
            <a:ln w="38100" cap="flat" cmpd="sng">
              <a:solidFill>
                <a:srgbClr val="FF0000"/>
              </a:solidFill>
              <a:prstDash val="solid"/>
              <a:round/>
              <a:headEnd type="none" w="sm" len="sm"/>
              <a:tailEnd type="none" w="sm" len="sm"/>
            </a:ln>
          </p:spPr>
          <p:txBody>
            <a:bodyPr spcFirstLastPara="1" wrap="square" lIns="556470" tIns="278222" rIns="556470" bIns="278222" anchor="ctr" anchorCtr="0">
              <a:noAutofit/>
            </a:bodyPr>
            <a:lstStyle/>
            <a:p>
              <a:pPr algn="ctr">
                <a:buClr>
                  <a:schemeClr val="dk1"/>
                </a:buClr>
                <a:buSzPts val="3600"/>
              </a:pPr>
              <a:endParaRPr sz="3725" dirty="0">
                <a:solidFill>
                  <a:schemeClr val="dk1"/>
                </a:solidFill>
                <a:latin typeface="Libre Franklin"/>
                <a:ea typeface="Libre Franklin"/>
                <a:cs typeface="Libre Franklin"/>
                <a:sym typeface="Libre Franklin"/>
              </a:endParaRPr>
            </a:p>
          </p:txBody>
        </p:sp>
        <p:sp>
          <p:nvSpPr>
            <p:cNvPr id="47" name="Google Shape;103;p13">
              <a:extLst>
                <a:ext uri="{FF2B5EF4-FFF2-40B4-BE49-F238E27FC236}">
                  <a16:creationId xmlns:a16="http://schemas.microsoft.com/office/drawing/2014/main" id="{5FE44EE8-5E84-8D25-362D-5C3F7A3720C9}"/>
                </a:ext>
              </a:extLst>
            </p:cNvPr>
            <p:cNvSpPr/>
            <p:nvPr/>
          </p:nvSpPr>
          <p:spPr>
            <a:xfrm>
              <a:off x="800460" y="14987110"/>
              <a:ext cx="12662882" cy="482218"/>
            </a:xfrm>
            <a:prstGeom prst="rect">
              <a:avLst/>
            </a:prstGeom>
            <a:noFill/>
            <a:ln>
              <a:noFill/>
            </a:ln>
          </p:spPr>
          <p:txBody>
            <a:bodyPr spcFirstLastPara="1" wrap="square" lIns="114796" tIns="57372" rIns="114796" bIns="57372" anchor="t" anchorCtr="0">
              <a:noAutofit/>
            </a:bodyPr>
            <a:lstStyle/>
            <a:p>
              <a:pPr algn="just">
                <a:lnSpc>
                  <a:spcPct val="150000"/>
                </a:lnSpc>
                <a:buClr>
                  <a:schemeClr val="dk1"/>
                </a:buClr>
                <a:buSzPts val="4400"/>
              </a:pPr>
              <a:r>
                <a:rPr lang="en-US" sz="4600" b="1" dirty="0">
                  <a:latin typeface="Calibri" panose="020F0502020204030204" pitchFamily="34" charset="0"/>
                  <a:cs typeface="Calibri" panose="020F0502020204030204" pitchFamily="34" charset="0"/>
                </a:rPr>
                <a:t>Individual Eye Scores at 10 feet Distance</a:t>
              </a:r>
              <a:endParaRPr sz="4600" b="1" dirty="0">
                <a:latin typeface="Calibri" panose="020F0502020204030204" pitchFamily="34" charset="0"/>
                <a:cs typeface="Calibri" panose="020F0502020204030204" pitchFamily="34" charset="0"/>
              </a:endParaRPr>
            </a:p>
          </p:txBody>
        </p:sp>
      </p:grpSp>
      <p:pic>
        <p:nvPicPr>
          <p:cNvPr id="48" name="Picture 47">
            <a:extLst>
              <a:ext uri="{FF2B5EF4-FFF2-40B4-BE49-F238E27FC236}">
                <a16:creationId xmlns:a16="http://schemas.microsoft.com/office/drawing/2014/main" id="{086EFA3C-94C6-0CD3-2165-6C85A1E8E509}"/>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1626018" y="26321434"/>
            <a:ext cx="12755880" cy="5943600"/>
          </a:xfrm>
          <a:prstGeom prst="rect">
            <a:avLst/>
          </a:prstGeom>
          <a:effectLst>
            <a:softEdge rad="0"/>
          </a:effectLst>
        </p:spPr>
      </p:pic>
      <p:sp>
        <p:nvSpPr>
          <p:cNvPr id="49" name="Google Shape;103;p13">
            <a:extLst>
              <a:ext uri="{FF2B5EF4-FFF2-40B4-BE49-F238E27FC236}">
                <a16:creationId xmlns:a16="http://schemas.microsoft.com/office/drawing/2014/main" id="{E9BE9B6D-9F8B-5062-39D6-3398781E06B8}"/>
              </a:ext>
            </a:extLst>
          </p:cNvPr>
          <p:cNvSpPr/>
          <p:nvPr/>
        </p:nvSpPr>
        <p:spPr>
          <a:xfrm>
            <a:off x="1911361" y="32038529"/>
            <a:ext cx="11657483" cy="1228545"/>
          </a:xfrm>
          <a:prstGeom prst="rect">
            <a:avLst/>
          </a:prstGeom>
          <a:noFill/>
          <a:ln>
            <a:noFill/>
          </a:ln>
        </p:spPr>
        <p:txBody>
          <a:bodyPr spcFirstLastPara="1" wrap="square" lIns="114796" tIns="57372" rIns="114796" bIns="57372" anchor="t" anchorCtr="0">
            <a:noAutofit/>
          </a:bodyPr>
          <a:lstStyle/>
          <a:p>
            <a:pPr algn="just">
              <a:lnSpc>
                <a:spcPct val="150000"/>
              </a:lnSpc>
              <a:buClr>
                <a:schemeClr val="dk1"/>
              </a:buClr>
              <a:buSzPts val="4400"/>
            </a:pPr>
            <a:r>
              <a:rPr lang="en-US" sz="4600" b="1" dirty="0"/>
              <a:t>Individual Eye </a:t>
            </a:r>
            <a:r>
              <a:rPr lang="en-US" sz="4600" b="1" dirty="0">
                <a:latin typeface="Calibri" panose="020F0502020204030204" pitchFamily="34" charset="0"/>
                <a:cs typeface="Calibri" panose="020F0502020204030204" pitchFamily="34" charset="0"/>
              </a:rPr>
              <a:t>Scores</a:t>
            </a:r>
            <a:r>
              <a:rPr lang="en-US" sz="4600" b="1" dirty="0"/>
              <a:t> at 20 feet Distance</a:t>
            </a:r>
            <a:endParaRPr sz="4600" b="1" dirty="0"/>
          </a:p>
        </p:txBody>
      </p:sp>
      <p:sp>
        <p:nvSpPr>
          <p:cNvPr id="50" name="Google Shape;102;p13" descr="fgsfg" title="gtrg">
            <a:extLst>
              <a:ext uri="{FF2B5EF4-FFF2-40B4-BE49-F238E27FC236}">
                <a16:creationId xmlns:a16="http://schemas.microsoft.com/office/drawing/2014/main" id="{1D77E347-0366-1D26-838E-FDC6EA493074}"/>
              </a:ext>
            </a:extLst>
          </p:cNvPr>
          <p:cNvSpPr/>
          <p:nvPr/>
        </p:nvSpPr>
        <p:spPr>
          <a:xfrm>
            <a:off x="1395620" y="24966953"/>
            <a:ext cx="13116931" cy="14847353"/>
          </a:xfrm>
          <a:prstGeom prst="roundRect">
            <a:avLst>
              <a:gd name="adj" fmla="val 11624"/>
            </a:avLst>
          </a:prstGeom>
          <a:noFill/>
          <a:ln w="38100" cap="flat" cmpd="sng">
            <a:solidFill>
              <a:srgbClr val="FF0000">
                <a:alpha val="0"/>
              </a:srgbClr>
            </a:solidFill>
            <a:prstDash val="solid"/>
            <a:round/>
            <a:headEnd type="none" w="sm" len="sm"/>
            <a:tailEnd type="none" w="sm" len="sm"/>
          </a:ln>
        </p:spPr>
        <p:txBody>
          <a:bodyPr spcFirstLastPara="1" wrap="square" lIns="556470" tIns="278222" rIns="556470" bIns="278222" anchor="ctr" anchorCtr="0">
            <a:noAutofit/>
          </a:bodyPr>
          <a:lstStyle/>
          <a:p>
            <a:pPr algn="ctr">
              <a:buClr>
                <a:schemeClr val="dk1"/>
              </a:buClr>
              <a:buSzPts val="3600"/>
            </a:pPr>
            <a:endParaRPr sz="3725" dirty="0">
              <a:solidFill>
                <a:schemeClr val="dk1"/>
              </a:solidFill>
              <a:latin typeface="Libre Franklin"/>
              <a:ea typeface="Libre Franklin"/>
              <a:cs typeface="Libre Franklin"/>
              <a:sym typeface="Libre Franklin"/>
            </a:endParaRPr>
          </a:p>
        </p:txBody>
      </p:sp>
      <p:sp>
        <p:nvSpPr>
          <p:cNvPr id="51" name="Google Shape;107;p13">
            <a:extLst>
              <a:ext uri="{FF2B5EF4-FFF2-40B4-BE49-F238E27FC236}">
                <a16:creationId xmlns:a16="http://schemas.microsoft.com/office/drawing/2014/main" id="{77D50CA9-A1B3-928E-8B4A-782771E4660D}"/>
              </a:ext>
            </a:extLst>
          </p:cNvPr>
          <p:cNvSpPr/>
          <p:nvPr/>
        </p:nvSpPr>
        <p:spPr>
          <a:xfrm>
            <a:off x="1648433" y="13393458"/>
            <a:ext cx="12711051" cy="11209261"/>
          </a:xfrm>
          <a:prstGeom prst="roundRect">
            <a:avLst>
              <a:gd name="adj" fmla="val 6525"/>
            </a:avLst>
          </a:prstGeom>
          <a:noFill/>
          <a:ln w="38100" cap="flat" cmpd="sng">
            <a:solidFill>
              <a:srgbClr val="FF0000"/>
            </a:solidFill>
            <a:prstDash val="solid"/>
            <a:round/>
            <a:headEnd type="none" w="sm" len="sm"/>
            <a:tailEnd type="none" w="sm" len="sm"/>
          </a:ln>
        </p:spPr>
        <p:txBody>
          <a:bodyPr spcFirstLastPara="1" wrap="square" lIns="94595" tIns="47284" rIns="94595" bIns="47284" anchor="ctr" anchorCtr="0">
            <a:noAutofit/>
          </a:bodyPr>
          <a:lstStyle/>
          <a:p>
            <a:pPr algn="ctr"/>
            <a:endParaRPr sz="7657" dirty="0">
              <a:solidFill>
                <a:schemeClr val="dk1"/>
              </a:solidFill>
              <a:latin typeface="Calibri"/>
              <a:ea typeface="Calibri"/>
              <a:cs typeface="Calibri"/>
              <a:sym typeface="Calibri"/>
            </a:endParaRPr>
          </a:p>
        </p:txBody>
      </p:sp>
      <p:sp>
        <p:nvSpPr>
          <p:cNvPr id="52" name="Round Same Side Corner Rectangle 51">
            <a:extLst>
              <a:ext uri="{FF2B5EF4-FFF2-40B4-BE49-F238E27FC236}">
                <a16:creationId xmlns:a16="http://schemas.microsoft.com/office/drawing/2014/main" id="{FEE356A0-8D6C-EBB5-2E9E-0E843D8A21DD}"/>
              </a:ext>
            </a:extLst>
          </p:cNvPr>
          <p:cNvSpPr/>
          <p:nvPr/>
        </p:nvSpPr>
        <p:spPr>
          <a:xfrm rot="10800000">
            <a:off x="1616284" y="33346323"/>
            <a:ext cx="12752062" cy="5943600"/>
          </a:xfrm>
          <a:prstGeom prst="round2SameRect">
            <a:avLst/>
          </a:prstGeom>
          <a:blipFill dpi="0" rotWithShape="0">
            <a:blip r:embed="rId5"/>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70DE96D5-CE67-FD9D-FE64-EAC18DED2832}"/>
              </a:ext>
            </a:extLst>
          </p:cNvPr>
          <p:cNvPicPr>
            <a:picLocks noChangeAspect="1"/>
          </p:cNvPicPr>
          <p:nvPr/>
        </p:nvPicPr>
        <p:blipFill>
          <a:blip r:embed="rId6"/>
          <a:stretch>
            <a:fillRect/>
          </a:stretch>
        </p:blipFill>
        <p:spPr>
          <a:xfrm>
            <a:off x="2026143" y="13735964"/>
            <a:ext cx="12127181" cy="10427273"/>
          </a:xfrm>
          <a:prstGeom prst="rect">
            <a:avLst/>
          </a:prstGeom>
        </p:spPr>
      </p:pic>
    </p:spTree>
    <p:extLst>
      <p:ext uri="{BB962C8B-B14F-4D97-AF65-F5344CB8AC3E}">
        <p14:creationId xmlns:p14="http://schemas.microsoft.com/office/powerpoint/2010/main" val="24333237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585868BE0BE404D96B3355A32DCBFA7" ma:contentTypeVersion="12" ma:contentTypeDescription="Create a new document." ma:contentTypeScope="" ma:versionID="c7c6ad0a15a8dbe64943973645e80af2">
  <xsd:schema xmlns:xsd="http://www.w3.org/2001/XMLSchema" xmlns:xs="http://www.w3.org/2001/XMLSchema" xmlns:p="http://schemas.microsoft.com/office/2006/metadata/properties" xmlns:ns2="186ac309-00a3-45b0-8335-d4f8ef684c86" xmlns:ns3="a3ae7234-4236-458e-8f83-7fa411cc1596" targetNamespace="http://schemas.microsoft.com/office/2006/metadata/properties" ma:root="true" ma:fieldsID="45d4120361ea4f1be232a1ea8087b314" ns2:_="" ns3:_="">
    <xsd:import namespace="186ac309-00a3-45b0-8335-d4f8ef684c86"/>
    <xsd:import namespace="a3ae7234-4236-458e-8f83-7fa411cc159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6ac309-00a3-45b0-8335-d4f8ef684c86"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d757968-b5e0-43bf-af52-13bc706514c3"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3ae7234-4236-458e-8f83-7fa411cc159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97e8a2b9-485b-41ab-8d5c-7bad16fb3ec6}" ma:internalName="TaxCatchAll" ma:showField="CatchAllData" ma:web="a3ae7234-4236-458e-8f83-7fa411cc1596">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a3ae7234-4236-458e-8f83-7fa411cc1596" xsi:nil="true"/>
    <lcf76f155ced4ddcb4097134ff3c332f xmlns="186ac309-00a3-45b0-8335-d4f8ef684c86">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AF012B-74CF-4F25-B0A5-A1DADC921AC8}">
  <ds:schemaRefs>
    <ds:schemaRef ds:uri="http://schemas.microsoft.com/office/2006/metadata/contentType"/>
    <ds:schemaRef ds:uri="http://schemas.microsoft.com/office/2006/metadata/properties/metaAttributes"/>
    <ds:schemaRef ds:uri="http://www.w3.org/2000/xmlns/"/>
    <ds:schemaRef ds:uri="http://www.w3.org/2001/XMLSchema"/>
    <ds:schemaRef ds:uri="186ac309-00a3-45b0-8335-d4f8ef684c86"/>
    <ds:schemaRef ds:uri="a3ae7234-4236-458e-8f83-7fa411cc1596"/>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70C728E-F1C0-4F43-85A3-918C90A9E81D}">
  <ds:schemaRefs>
    <ds:schemaRef ds:uri="http://schemas.microsoft.com/office/2006/metadata/properties"/>
    <ds:schemaRef ds:uri="http://www.w3.org/2000/xmlns/"/>
    <ds:schemaRef ds:uri="a3ae7234-4236-458e-8f83-7fa411cc1596"/>
    <ds:schemaRef ds:uri="http://www.w3.org/2001/XMLSchema-instance"/>
    <ds:schemaRef ds:uri="186ac309-00a3-45b0-8335-d4f8ef684c86"/>
    <ds:schemaRef ds:uri="http://schemas.microsoft.com/office/infopath/2007/PartnerControls"/>
  </ds:schemaRefs>
</ds:datastoreItem>
</file>

<file path=customXml/itemProps3.xml><?xml version="1.0" encoding="utf-8"?>
<ds:datastoreItem xmlns:ds="http://schemas.openxmlformats.org/officeDocument/2006/customXml" ds:itemID="{CB23ACC1-F505-45E0-95CB-BCF7F4A5886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770</TotalTime>
  <Words>336</Words>
  <Application>Microsoft Office PowerPoint</Application>
  <PresentationFormat>Custom</PresentationFormat>
  <Paragraphs>24</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Effectiveness of Visual Acuity Test in VR vs the Real World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 zongli</dc:creator>
  <cp:lastModifiedBy>roberto salazar rodriguez</cp:lastModifiedBy>
  <cp:revision>120</cp:revision>
  <cp:lastPrinted>2023-02-27T05:46:20Z</cp:lastPrinted>
  <dcterms:created xsi:type="dcterms:W3CDTF">2023-01-10T13:56:23Z</dcterms:created>
  <dcterms:modified xsi:type="dcterms:W3CDTF">2026-08-25T04:54:55Z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0x0101005585868BE0BE404D96B3355A32DCBFA7</vt:lpwstr>
  </property>
  <property fmtid="{D5CDD505-2E9C-101B-9397-08002B2CF9AE}" pid="3" name="MSIP_Label_638202f9-8d41-4950-b014-f183e397b746_Enabled">
    <vt:lpwstr>true</vt:lpwstr>
  </property>
  <property fmtid="{D5CDD505-2E9C-101B-9397-08002B2CF9AE}" pid="4" name="MSIP_Label_638202f9-8d41-4950-b014-f183e397b746_SetDate">
    <vt:lpwstr>2024-01-31T15:57:51Z</vt:lpwstr>
  </property>
  <property fmtid="{D5CDD505-2E9C-101B-9397-08002B2CF9AE}" pid="5" name="MSIP_Label_638202f9-8d41-4950-b014-f183e397b746_Method">
    <vt:lpwstr>Standard</vt:lpwstr>
  </property>
  <property fmtid="{D5CDD505-2E9C-101B-9397-08002B2CF9AE}" pid="6" name="MSIP_Label_638202f9-8d41-4950-b014-f183e397b746_Name">
    <vt:lpwstr>defa4170-0d19-0005-0004-bc88714345d2</vt:lpwstr>
  </property>
  <property fmtid="{D5CDD505-2E9C-101B-9397-08002B2CF9AE}" pid="7" name="MSIP_Label_638202f9-8d41-4950-b014-f183e397b746_SiteId">
    <vt:lpwstr>13b3b0ce-cd75-49a4-bfea-0a03b01ff1ab</vt:lpwstr>
  </property>
  <property fmtid="{D5CDD505-2E9C-101B-9397-08002B2CF9AE}" pid="8" name="MSIP_Label_638202f9-8d41-4950-b014-f183e397b746_ActionId">
    <vt:lpwstr>da264054-d147-4073-9b4b-423a952b7dbf</vt:lpwstr>
  </property>
  <property fmtid="{D5CDD505-2E9C-101B-9397-08002B2CF9AE}" pid="9" name="MSIP_Label_638202f9-8d41-4950-b014-f183e397b746_ContentBits">
    <vt:lpwstr>0</vt:lpwstr>
  </property>
</Properties>
</file>